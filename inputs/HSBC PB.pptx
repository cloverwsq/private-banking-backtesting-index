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6_B4B84229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  <p:sldId id="271" r:id="rId4"/>
    <p:sldId id="261" r:id="rId5"/>
    <p:sldId id="270" r:id="rId6"/>
    <p:sldId id="262" r:id="rId7"/>
    <p:sldId id="263" r:id="rId8"/>
    <p:sldId id="274" r:id="rId9"/>
    <p:sldId id="264" r:id="rId10"/>
    <p:sldId id="265" r:id="rId11"/>
    <p:sldId id="272" r:id="rId12"/>
    <p:sldId id="273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C4B531-8DA5-F2AD-789E-43E34A568764}" name="a240011@e.ntu.edu.sg" initials="a2" userId="S::urn:spo:guest#a240011@e.ntu.edu.sg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  <a:srgbClr val="D1D1D1"/>
    <a:srgbClr val="1D619E"/>
    <a:srgbClr val="8FABCD"/>
    <a:srgbClr val="163E64"/>
    <a:srgbClr val="032443"/>
    <a:srgbClr val="13385B"/>
    <a:srgbClr val="007917"/>
    <a:srgbClr val="B20005"/>
    <a:srgbClr val="EF75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5A85F6-607A-BB21-B0D9-13247B593784}" v="747" dt="2026-02-28T04:45:08.073"/>
    <p1510:client id="{443761DF-FFCF-BE49-9199-2647AD9A25B8}" v="910" dt="2026-02-28T04:52:16.599"/>
    <p1510:client id="{5059F0BE-69B4-B53D-ADAC-C0E3ECEB61D4}" v="72" dt="2026-02-28T03:29:29.155"/>
    <p1510:client id="{5333CBE1-0986-CC8F-884E-5440AF2186EF}" v="171" dt="2026-02-27T09:20:34.7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omments/modernComment_106_B4B8422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E21F83-9E57-4B86-9FFF-FAEBE87F548B}" authorId="{D1C4B531-8DA5-F2AD-789E-43E34A568764}" created="2026-02-28T03:52:23.09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031974441" sldId="262"/>
      <ac:picMk id="3" creationId="{3EB240F4-3CFF-8ADB-37AD-2A644207DD82}"/>
    </ac:deMkLst>
    <p188:txBody>
      <a:bodyPr/>
      <a:lstStyle/>
      <a:p>
        <a:r>
          <a:rPr lang="en-US"/>
          <a:t>图先放这儿 后面重新做graph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0DF33-B87C-776E-31E5-BD6996EAF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7ABC80-72C5-BBC6-934D-12DAB2AF4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CC1D4-DDF8-ADCC-4CA5-9291643ECC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63A422-5AC7-0749-B6C9-109D81ADA53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8E4D7-A404-5E8E-4B09-380C62E59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78DF8-08BF-9A9E-EDE6-7946E9D43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D88C1E-844D-2A40-B534-9F9692D0C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1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00466-DC77-3EC5-47AC-FF2737A37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217" y="345247"/>
            <a:ext cx="9846366" cy="45982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Title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4C23E-CB1B-E223-70BA-03F9CEEBD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216" y="1080190"/>
            <a:ext cx="11794435" cy="53206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6974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AAEA7-BBE5-B13D-8FFB-C56D0C531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3A1FD-8387-CFE8-7E26-4BA04DB54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927FB-BBF3-6170-89C1-CA4C4CA114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63A422-5AC7-0749-B6C9-109D81ADA53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C1BD3-79AE-3BFB-B961-7A9A1D6D8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00219-63BF-CBAA-DBF1-328F7323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D88C1E-844D-2A40-B534-9F9692D0C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94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C53ED-EE82-7E59-0A90-A398DD7A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0DAA4-E375-5F13-4F52-C4465E9F4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51E59-62D7-A010-13B3-C08B16759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D69C6-9D3C-AD3E-B7FA-2DDBD492D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63A422-5AC7-0749-B6C9-109D81ADA53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EDB5F-B465-EA04-D1EC-626AFEC48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BB32A-9656-4497-D697-2D6953DB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D88C1E-844D-2A40-B534-9F9692D0C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21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C115-B9E9-D40A-2E20-F9742E486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2C645-BA81-69B6-C233-F96FB8B61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2FAB9-455D-4232-CCFD-E056A8482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A25EFB-84A5-990C-092A-6F52C5CA5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2D8EF-D45E-B79D-0810-2284C0941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AF96B-BB3D-9F76-967B-650D30B6EC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63A422-5AC7-0749-B6C9-109D81ADA53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9D3059-B5C0-C300-B3D2-9B8D6C8A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5E153-3C21-0F96-834E-981813B15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D88C1E-844D-2A40-B534-9F9692D0C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3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9D7EB-85AE-9CF5-B017-4ED274CB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BEFA81-E401-2067-3129-3DE5634552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63A422-5AC7-0749-B6C9-109D81ADA53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36BB9-0458-9284-7196-3A59ED0A7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D16E16-FF5D-0585-AC09-A4028183D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D88C1E-844D-2A40-B534-9F9692D0C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23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EED4A4-96D1-E748-6487-DB82AF68C6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63A422-5AC7-0749-B6C9-109D81ADA53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1DFC03-54CD-C3A2-8A84-18ECDF82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37CAE-FADB-E2D5-B297-48B7965E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D88C1E-844D-2A40-B534-9F9692D0C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63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535CF-AB9E-DC19-B774-AEE136EA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047D4-F5C5-869E-678D-24752FCAE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0586D-BA77-938B-8227-BF6081E87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5FA20-5DFC-67D8-ADB3-E2E79AC7DB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63A422-5AC7-0749-B6C9-109D81ADA53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93D46-B8D9-A0A3-C19E-8663C84F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E631C-A5FB-117A-DA83-1D5DB30B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D88C1E-844D-2A40-B534-9F9692D0C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9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F4B1-D9F0-18BE-1354-E4B1AA19D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6FA311-09EC-59F6-0607-368986E294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FC71D-918E-CEA8-1C01-F1792E013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55813-D6C9-1732-6BED-BBCE02AA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63A422-5AC7-0749-B6C9-109D81ADA53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0CEA4-C8C9-B943-1F6D-8ECD0A81A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877D-7E59-B70F-257B-E7F775131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D88C1E-844D-2A40-B534-9F9692D0C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07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42571-38FD-8BEB-8D64-977BB1BC1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87483-4271-4050-ECAE-2A70B7E80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087C7-AEF7-ECCC-326C-07A676B41A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63A422-5AC7-0749-B6C9-109D81ADA53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61F0E-75E6-ADCD-08DD-A72FF007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F1938-521E-8A50-255A-94AC06296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D88C1E-844D-2A40-B534-9F9692D0C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975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3D0A3-AEEB-EA82-5449-1E2FDD6502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6F651-1661-63F3-AF54-90965556D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D895A-98F8-3881-2A7D-9E4CADE69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63A422-5AC7-0749-B6C9-109D81ADA53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0B860-6B18-524B-7228-13925E5D4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FB22E-27B4-3ADF-C1F2-A0D7C6659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1D88C1E-844D-2A40-B534-9F9692D0C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9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2FBF1B-018C-2542-B120-34C43158E4D4}"/>
              </a:ext>
            </a:extLst>
          </p:cNvPr>
          <p:cNvCxnSpPr/>
          <p:nvPr userDrawn="1"/>
        </p:nvCxnSpPr>
        <p:spPr>
          <a:xfrm>
            <a:off x="-47297" y="851338"/>
            <a:ext cx="12286593" cy="0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FB565B-561C-37CD-F3F1-D859AEBAC6D3}"/>
              </a:ext>
            </a:extLst>
          </p:cNvPr>
          <p:cNvCxnSpPr/>
          <p:nvPr userDrawn="1"/>
        </p:nvCxnSpPr>
        <p:spPr>
          <a:xfrm>
            <a:off x="-47297" y="6574221"/>
            <a:ext cx="12286593" cy="0"/>
          </a:xfrm>
          <a:prstGeom prst="line">
            <a:avLst/>
          </a:prstGeom>
          <a:ln w="952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HSBC Global private banking: it's time to revisit your wealth plan - Spear's">
            <a:extLst>
              <a:ext uri="{FF2B5EF4-FFF2-40B4-BE49-F238E27FC236}">
                <a16:creationId xmlns:a16="http://schemas.microsoft.com/office/drawing/2014/main" id="{D3834FD4-823D-330E-D386-3987367CED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551" y="115540"/>
            <a:ext cx="2280745" cy="693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6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6_B4B842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A170C-CB75-198F-DA56-17B6887F9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877DDD-A6E1-D110-F22C-F2416F1AD2FE}"/>
              </a:ext>
            </a:extLst>
          </p:cNvPr>
          <p:cNvSpPr/>
          <p:nvPr/>
        </p:nvSpPr>
        <p:spPr>
          <a:xfrm>
            <a:off x="-1093076" y="1429406"/>
            <a:ext cx="819807" cy="325821"/>
          </a:xfrm>
          <a:prstGeom prst="rect">
            <a:avLst/>
          </a:prstGeom>
          <a:solidFill>
            <a:srgbClr val="163E64"/>
          </a:solidFill>
          <a:ln>
            <a:solidFill>
              <a:srgbClr val="163E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7BE688-9D9D-B407-5FDA-DF0A0F90E5B1}"/>
              </a:ext>
            </a:extLst>
          </p:cNvPr>
          <p:cNvSpPr/>
          <p:nvPr/>
        </p:nvSpPr>
        <p:spPr>
          <a:xfrm>
            <a:off x="-1093077" y="1899996"/>
            <a:ext cx="819807" cy="325821"/>
          </a:xfrm>
          <a:prstGeom prst="rect">
            <a:avLst/>
          </a:prstGeom>
          <a:solidFill>
            <a:srgbClr val="1E619E"/>
          </a:solidFill>
          <a:ln>
            <a:solidFill>
              <a:srgbClr val="1E61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1D136-0858-BD15-9863-AE7393A399BD}"/>
              </a:ext>
            </a:extLst>
          </p:cNvPr>
          <p:cNvSpPr/>
          <p:nvPr/>
        </p:nvSpPr>
        <p:spPr>
          <a:xfrm>
            <a:off x="-1093077" y="2370586"/>
            <a:ext cx="819807" cy="325821"/>
          </a:xfrm>
          <a:prstGeom prst="rect">
            <a:avLst/>
          </a:prstGeom>
          <a:solidFill>
            <a:srgbClr val="2279C6"/>
          </a:solidFill>
          <a:ln>
            <a:solidFill>
              <a:srgbClr val="227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3763B2-C3A9-D72B-12F2-182CA4FFFEA6}"/>
              </a:ext>
            </a:extLst>
          </p:cNvPr>
          <p:cNvSpPr/>
          <p:nvPr/>
        </p:nvSpPr>
        <p:spPr>
          <a:xfrm>
            <a:off x="-1093077" y="2841176"/>
            <a:ext cx="819807" cy="325821"/>
          </a:xfrm>
          <a:prstGeom prst="rect">
            <a:avLst/>
          </a:prstGeom>
          <a:solidFill>
            <a:srgbClr val="8FABCD"/>
          </a:solidFill>
          <a:ln>
            <a:solidFill>
              <a:srgbClr val="8FAB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CA3DC9-F41D-66F3-578A-4AA67C656D2F}"/>
              </a:ext>
            </a:extLst>
          </p:cNvPr>
          <p:cNvSpPr/>
          <p:nvPr/>
        </p:nvSpPr>
        <p:spPr>
          <a:xfrm>
            <a:off x="-1093077" y="3311766"/>
            <a:ext cx="819807" cy="3258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F9F8C9-E9ED-2C9A-D6B7-38565A7299A7}"/>
              </a:ext>
            </a:extLst>
          </p:cNvPr>
          <p:cNvSpPr/>
          <p:nvPr/>
        </p:nvSpPr>
        <p:spPr>
          <a:xfrm>
            <a:off x="-1093078" y="3782356"/>
            <a:ext cx="819807" cy="32582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5BC2FD-F118-DB87-9076-A772E72DE8C7}"/>
              </a:ext>
            </a:extLst>
          </p:cNvPr>
          <p:cNvSpPr/>
          <p:nvPr/>
        </p:nvSpPr>
        <p:spPr>
          <a:xfrm>
            <a:off x="-1093078" y="4573871"/>
            <a:ext cx="819807" cy="325821"/>
          </a:xfrm>
          <a:prstGeom prst="rect">
            <a:avLst/>
          </a:prstGeom>
          <a:solidFill>
            <a:srgbClr val="B20005"/>
          </a:solidFill>
          <a:ln>
            <a:solidFill>
              <a:srgbClr val="B200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F5D93B-DD0B-08D5-44BF-AE473A31AA7B}"/>
              </a:ext>
            </a:extLst>
          </p:cNvPr>
          <p:cNvSpPr/>
          <p:nvPr/>
        </p:nvSpPr>
        <p:spPr>
          <a:xfrm>
            <a:off x="-1093079" y="5044461"/>
            <a:ext cx="819807" cy="325821"/>
          </a:xfrm>
          <a:prstGeom prst="rect">
            <a:avLst/>
          </a:prstGeom>
          <a:solidFill>
            <a:srgbClr val="EF756C"/>
          </a:solidFill>
          <a:ln>
            <a:solidFill>
              <a:srgbClr val="EF75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0A23F1-DE19-6C53-EB02-A15A07F61A9F}"/>
              </a:ext>
            </a:extLst>
          </p:cNvPr>
          <p:cNvSpPr/>
          <p:nvPr/>
        </p:nvSpPr>
        <p:spPr>
          <a:xfrm>
            <a:off x="-1093080" y="5956485"/>
            <a:ext cx="819807" cy="325821"/>
          </a:xfrm>
          <a:prstGeom prst="rect">
            <a:avLst/>
          </a:prstGeom>
          <a:solidFill>
            <a:srgbClr val="007917"/>
          </a:solidFill>
          <a:ln>
            <a:solidFill>
              <a:srgbClr val="0079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C6E6C4-3D45-B69C-BB8D-DF6B1250A6DF}"/>
              </a:ext>
            </a:extLst>
          </p:cNvPr>
          <p:cNvSpPr/>
          <p:nvPr/>
        </p:nvSpPr>
        <p:spPr>
          <a:xfrm>
            <a:off x="-1093079" y="958816"/>
            <a:ext cx="819807" cy="325821"/>
          </a:xfrm>
          <a:prstGeom prst="rect">
            <a:avLst/>
          </a:prstGeom>
          <a:solidFill>
            <a:srgbClr val="032443"/>
          </a:solidFill>
          <a:ln>
            <a:solidFill>
              <a:srgbClr val="0324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5A5497-2110-D92E-A423-61EF8255EEDF}"/>
              </a:ext>
            </a:extLst>
          </p:cNvPr>
          <p:cNvSpPr/>
          <p:nvPr/>
        </p:nvSpPr>
        <p:spPr>
          <a:xfrm>
            <a:off x="-1093080" y="5469447"/>
            <a:ext cx="819807" cy="3258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C6F9AD-1AEE-3B22-3F7B-9A2347D4BA09}"/>
              </a:ext>
            </a:extLst>
          </p:cNvPr>
          <p:cNvSpPr/>
          <p:nvPr/>
        </p:nvSpPr>
        <p:spPr>
          <a:xfrm>
            <a:off x="-1093080" y="6400799"/>
            <a:ext cx="819807" cy="3258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5E82E1-686F-D770-F47B-4659031AC2EE}"/>
              </a:ext>
            </a:extLst>
          </p:cNvPr>
          <p:cNvSpPr txBox="1"/>
          <p:nvPr/>
        </p:nvSpPr>
        <p:spPr>
          <a:xfrm>
            <a:off x="182217" y="958816"/>
            <a:ext cx="169148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Font: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Arial</a:t>
            </a:r>
          </a:p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Fon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size:</a:t>
            </a:r>
          </a:p>
          <a:p>
            <a:pPr marL="285750" indent="-285750">
              <a:buFontTx/>
              <a:buChar char="-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  <a:p>
            <a:pPr marL="285750" indent="-285750">
              <a:buFontTx/>
              <a:buChar char="-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Subtitle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marL="285750" indent="-285750">
              <a:buFontTx/>
              <a:buChar char="-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marL="285750" indent="-285750">
              <a:buFontTx/>
              <a:buChar char="-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Footnotes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5ABF81-7AB0-46D9-E7DB-0A6EA0DD0011}"/>
              </a:ext>
            </a:extLst>
          </p:cNvPr>
          <p:cNvSpPr/>
          <p:nvPr/>
        </p:nvSpPr>
        <p:spPr>
          <a:xfrm>
            <a:off x="-1093081" y="4169838"/>
            <a:ext cx="819807" cy="325821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33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51BAC-95BE-98D2-F079-70E352DE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Content</a:t>
            </a:r>
            <a:r>
              <a:rPr lang="zh-CN" altLang="en-US"/>
              <a:t> </a:t>
            </a:r>
            <a:r>
              <a:rPr lang="en-US" altLang="zh-CN"/>
              <a:t>Page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97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A5C16-89FE-4386-CFB6-6BA09A11A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F8AA8-74B7-52D6-98CB-632518C87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altLang="zh-CN">
                <a:latin typeface="Arial"/>
                <a:ea typeface="等线 Light"/>
                <a:cs typeface="Arial"/>
              </a:rPr>
              <a:t>Executive Summary yupeng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8C975D-32DF-A1CE-6F80-1A04218DEF86}"/>
              </a:ext>
            </a:extLst>
          </p:cNvPr>
          <p:cNvSpPr/>
          <p:nvPr/>
        </p:nvSpPr>
        <p:spPr>
          <a:xfrm>
            <a:off x="267629" y="959005"/>
            <a:ext cx="4828478" cy="5508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Portfolio</a:t>
            </a:r>
            <a:r>
              <a:rPr lang="zh-CN" altLang="en-US"/>
              <a:t> </a:t>
            </a:r>
            <a:r>
              <a:rPr lang="en-US" altLang="zh-CN"/>
              <a:t>allocation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830961-9E62-8AF4-FF64-C4A944D75597}"/>
              </a:ext>
            </a:extLst>
          </p:cNvPr>
          <p:cNvSpPr/>
          <p:nvPr/>
        </p:nvSpPr>
        <p:spPr>
          <a:xfrm>
            <a:off x="5200105" y="1004051"/>
            <a:ext cx="6887818" cy="29657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Key</a:t>
            </a:r>
            <a:r>
              <a:rPr lang="zh-CN" altLang="en-US"/>
              <a:t> </a:t>
            </a:r>
            <a:r>
              <a:rPr lang="en-US" altLang="zh-CN"/>
              <a:t>Rationale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90A957-9174-E549-9DBE-F65E9A746045}"/>
              </a:ext>
            </a:extLst>
          </p:cNvPr>
          <p:cNvSpPr/>
          <p:nvPr/>
        </p:nvSpPr>
        <p:spPr>
          <a:xfrm>
            <a:off x="5200105" y="4066920"/>
            <a:ext cx="6887818" cy="24007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Risk</a:t>
            </a:r>
            <a:r>
              <a:rPr lang="zh-CN" altLang="en-US"/>
              <a:t> </a:t>
            </a:r>
            <a:r>
              <a:rPr lang="en-US" altLang="zh-CN"/>
              <a:t>return</a:t>
            </a:r>
            <a:r>
              <a:rPr lang="zh-CN" altLang="en-US"/>
              <a:t> </a:t>
            </a:r>
            <a:r>
              <a:rPr lang="en-US" altLang="zh-CN"/>
              <a:t>analysis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507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BD6F9-280D-028A-D737-BEBEE61CD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altLang="zh-CN">
                <a:latin typeface="Arial"/>
                <a:ea typeface="等线 Light"/>
                <a:cs typeface="Arial"/>
              </a:rPr>
              <a:t>Client</a:t>
            </a:r>
            <a:r>
              <a:rPr lang="zh-CN" altLang="en-US">
                <a:latin typeface="Arial"/>
                <a:ea typeface="等线 Light"/>
                <a:cs typeface="Arial"/>
              </a:rPr>
              <a:t> </a:t>
            </a:r>
            <a:r>
              <a:rPr lang="en-US" altLang="zh-CN">
                <a:latin typeface="Arial"/>
                <a:ea typeface="等线 Light"/>
                <a:cs typeface="Arial"/>
              </a:rPr>
              <a:t>Profile(15%) 02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8DFA4-4839-2525-5BA4-E5E993681971}"/>
              </a:ext>
            </a:extLst>
          </p:cNvPr>
          <p:cNvSpPr/>
          <p:nvPr/>
        </p:nvSpPr>
        <p:spPr>
          <a:xfrm>
            <a:off x="0" y="4201119"/>
            <a:ext cx="3685590" cy="25366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>
                <a:ea typeface="等线"/>
              </a:rPr>
              <a:t>Risk-return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assessment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880A15-16BA-A921-49B2-1C6ADD8D8AE7}"/>
              </a:ext>
            </a:extLst>
          </p:cNvPr>
          <p:cNvSpPr/>
          <p:nvPr/>
        </p:nvSpPr>
        <p:spPr>
          <a:xfrm>
            <a:off x="4002727" y="3641834"/>
            <a:ext cx="3685590" cy="2870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Investment</a:t>
            </a:r>
            <a:r>
              <a:rPr lang="zh-CN" altLang="en-US"/>
              <a:t> </a:t>
            </a:r>
            <a:r>
              <a:rPr lang="en-US" altLang="zh-CN"/>
              <a:t>objectives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F7336-799B-1B4A-D11F-40A2FAC75BD3}"/>
              </a:ext>
            </a:extLst>
          </p:cNvPr>
          <p:cNvSpPr/>
          <p:nvPr/>
        </p:nvSpPr>
        <p:spPr>
          <a:xfrm>
            <a:off x="7823237" y="3637587"/>
            <a:ext cx="4186546" cy="28751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Key</a:t>
            </a:r>
            <a:r>
              <a:rPr lang="zh-CN" altLang="en-US"/>
              <a:t> </a:t>
            </a:r>
            <a:r>
              <a:rPr lang="en-US" altLang="zh-CN"/>
              <a:t>insights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investment</a:t>
            </a:r>
            <a:r>
              <a:rPr lang="zh-CN" altLang="en-US"/>
              <a:t> </a:t>
            </a:r>
            <a:r>
              <a:rPr lang="en-US" altLang="zh-CN"/>
              <a:t>needs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1FE450-2A14-1181-6427-95715AD131B2}"/>
              </a:ext>
            </a:extLst>
          </p:cNvPr>
          <p:cNvSpPr/>
          <p:nvPr/>
        </p:nvSpPr>
        <p:spPr>
          <a:xfrm>
            <a:off x="182217" y="904009"/>
            <a:ext cx="3714374" cy="24528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Profile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EF1448-9785-18E4-7F6F-6B798B444630}"/>
              </a:ext>
            </a:extLst>
          </p:cNvPr>
          <p:cNvSpPr/>
          <p:nvPr/>
        </p:nvSpPr>
        <p:spPr>
          <a:xfrm>
            <a:off x="-1093076" y="1429406"/>
            <a:ext cx="819807" cy="325821"/>
          </a:xfrm>
          <a:prstGeom prst="rect">
            <a:avLst/>
          </a:prstGeom>
          <a:solidFill>
            <a:srgbClr val="163E64"/>
          </a:solidFill>
          <a:ln>
            <a:solidFill>
              <a:srgbClr val="163E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278175-666F-FE73-8E20-4C999663FC09}"/>
              </a:ext>
            </a:extLst>
          </p:cNvPr>
          <p:cNvSpPr/>
          <p:nvPr/>
        </p:nvSpPr>
        <p:spPr>
          <a:xfrm>
            <a:off x="-1093077" y="1899996"/>
            <a:ext cx="819807" cy="325821"/>
          </a:xfrm>
          <a:prstGeom prst="rect">
            <a:avLst/>
          </a:prstGeom>
          <a:solidFill>
            <a:srgbClr val="1E619E"/>
          </a:solidFill>
          <a:ln>
            <a:solidFill>
              <a:srgbClr val="1E61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A270B-BA34-ED54-04F0-51F45B71E52E}"/>
              </a:ext>
            </a:extLst>
          </p:cNvPr>
          <p:cNvSpPr/>
          <p:nvPr/>
        </p:nvSpPr>
        <p:spPr>
          <a:xfrm>
            <a:off x="-1093077" y="2370586"/>
            <a:ext cx="819807" cy="325821"/>
          </a:xfrm>
          <a:prstGeom prst="rect">
            <a:avLst/>
          </a:prstGeom>
          <a:solidFill>
            <a:srgbClr val="2279C6"/>
          </a:solidFill>
          <a:ln>
            <a:solidFill>
              <a:srgbClr val="2279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5CB725-949E-BDE7-0C3D-AB7360DA59A6}"/>
              </a:ext>
            </a:extLst>
          </p:cNvPr>
          <p:cNvSpPr/>
          <p:nvPr/>
        </p:nvSpPr>
        <p:spPr>
          <a:xfrm>
            <a:off x="-1093077" y="2841176"/>
            <a:ext cx="819807" cy="325821"/>
          </a:xfrm>
          <a:prstGeom prst="rect">
            <a:avLst/>
          </a:prstGeom>
          <a:solidFill>
            <a:srgbClr val="8FABCD"/>
          </a:solidFill>
          <a:ln>
            <a:solidFill>
              <a:srgbClr val="8FAB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4F9748-2D5D-B119-172F-8984B0C4DDCE}"/>
              </a:ext>
            </a:extLst>
          </p:cNvPr>
          <p:cNvSpPr/>
          <p:nvPr/>
        </p:nvSpPr>
        <p:spPr>
          <a:xfrm>
            <a:off x="-1093077" y="3311766"/>
            <a:ext cx="819807" cy="3258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402CF9-7E57-8EB2-165A-4B51AC675702}"/>
              </a:ext>
            </a:extLst>
          </p:cNvPr>
          <p:cNvSpPr/>
          <p:nvPr/>
        </p:nvSpPr>
        <p:spPr>
          <a:xfrm>
            <a:off x="-1093078" y="3782356"/>
            <a:ext cx="819807" cy="32582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5869FB-847A-FD2F-996E-CB97AF852227}"/>
              </a:ext>
            </a:extLst>
          </p:cNvPr>
          <p:cNvSpPr/>
          <p:nvPr/>
        </p:nvSpPr>
        <p:spPr>
          <a:xfrm>
            <a:off x="-1093078" y="4573871"/>
            <a:ext cx="819807" cy="325821"/>
          </a:xfrm>
          <a:prstGeom prst="rect">
            <a:avLst/>
          </a:prstGeom>
          <a:solidFill>
            <a:srgbClr val="B20005"/>
          </a:solidFill>
          <a:ln>
            <a:solidFill>
              <a:srgbClr val="B200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594F5A-40CB-49D4-8986-2701A0F9FCDE}"/>
              </a:ext>
            </a:extLst>
          </p:cNvPr>
          <p:cNvSpPr/>
          <p:nvPr/>
        </p:nvSpPr>
        <p:spPr>
          <a:xfrm>
            <a:off x="-1093079" y="5044461"/>
            <a:ext cx="819807" cy="325821"/>
          </a:xfrm>
          <a:prstGeom prst="rect">
            <a:avLst/>
          </a:prstGeom>
          <a:solidFill>
            <a:srgbClr val="EF756C"/>
          </a:solidFill>
          <a:ln>
            <a:solidFill>
              <a:srgbClr val="EF75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739B59-502F-C97B-6BAF-5494334D112F}"/>
              </a:ext>
            </a:extLst>
          </p:cNvPr>
          <p:cNvSpPr/>
          <p:nvPr/>
        </p:nvSpPr>
        <p:spPr>
          <a:xfrm>
            <a:off x="-1093080" y="5956485"/>
            <a:ext cx="819807" cy="325821"/>
          </a:xfrm>
          <a:prstGeom prst="rect">
            <a:avLst/>
          </a:prstGeom>
          <a:solidFill>
            <a:srgbClr val="007917"/>
          </a:solidFill>
          <a:ln>
            <a:solidFill>
              <a:srgbClr val="0079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5B0A82-7A7C-51C5-66F7-09A0A003A3EA}"/>
              </a:ext>
            </a:extLst>
          </p:cNvPr>
          <p:cNvSpPr/>
          <p:nvPr/>
        </p:nvSpPr>
        <p:spPr>
          <a:xfrm>
            <a:off x="-1093079" y="958816"/>
            <a:ext cx="819807" cy="325821"/>
          </a:xfrm>
          <a:prstGeom prst="rect">
            <a:avLst/>
          </a:prstGeom>
          <a:solidFill>
            <a:srgbClr val="032443"/>
          </a:solidFill>
          <a:ln>
            <a:solidFill>
              <a:srgbClr val="0324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AAB552-F38D-E7B6-C651-920AB4B0B228}"/>
              </a:ext>
            </a:extLst>
          </p:cNvPr>
          <p:cNvSpPr/>
          <p:nvPr/>
        </p:nvSpPr>
        <p:spPr>
          <a:xfrm>
            <a:off x="-1093080" y="5469447"/>
            <a:ext cx="819807" cy="3258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13983C-5ABB-21D8-8C23-5A9D8471ACCF}"/>
              </a:ext>
            </a:extLst>
          </p:cNvPr>
          <p:cNvSpPr/>
          <p:nvPr/>
        </p:nvSpPr>
        <p:spPr>
          <a:xfrm>
            <a:off x="-1093080" y="6400799"/>
            <a:ext cx="819807" cy="3258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747A173-7D5F-F77E-A56B-813D405CB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064233"/>
              </p:ext>
            </p:extLst>
          </p:nvPr>
        </p:nvGraphicFramePr>
        <p:xfrm>
          <a:off x="1078559" y="1181866"/>
          <a:ext cx="2818032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905">
                  <a:extLst>
                    <a:ext uri="{9D8B030D-6E8A-4147-A177-3AD203B41FA5}">
                      <a16:colId xmlns:a16="http://schemas.microsoft.com/office/drawing/2014/main" val="3870985062"/>
                    </a:ext>
                  </a:extLst>
                </a:gridCol>
                <a:gridCol w="1819127">
                  <a:extLst>
                    <a:ext uri="{9D8B030D-6E8A-4147-A177-3AD203B41FA5}">
                      <a16:colId xmlns:a16="http://schemas.microsoft.com/office/drawing/2014/main" val="67971260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Personal</a:t>
                      </a:r>
                      <a:r>
                        <a:rPr lang="zh-CN" altLang="en-US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Details</a:t>
                      </a:r>
                      <a:endParaRPr lang="en-US" sz="800" b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61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  <a:r>
                        <a:rPr lang="zh-CN" altLang="en-US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Years</a:t>
                      </a:r>
                      <a:r>
                        <a:rPr lang="zh-CN" altLang="en-US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Old</a:t>
                      </a:r>
                      <a:r>
                        <a:rPr lang="zh-CN" altLang="en-US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Hong</a:t>
                      </a:r>
                      <a:r>
                        <a:rPr lang="zh-CN" altLang="en-US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Kong</a:t>
                      </a:r>
                      <a:r>
                        <a:rPr lang="zh-CN" altLang="en-US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People</a:t>
                      </a:r>
                      <a:endParaRPr lang="en-US" sz="8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28555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Stage</a:t>
                      </a:r>
                      <a:r>
                        <a:rPr lang="zh-CN" altLang="en-US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</a:t>
                      </a:r>
                      <a:r>
                        <a:rPr lang="zh-CN" altLang="en-US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Life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61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Working</a:t>
                      </a:r>
                      <a:r>
                        <a:rPr lang="zh-CN" altLang="en-US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Phase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0414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</a:t>
                      </a:r>
                      <a:r>
                        <a:rPr lang="zh-CN" altLang="en-US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61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USD</a:t>
                      </a:r>
                      <a:r>
                        <a:rPr lang="zh-CN" altLang="en-US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95million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0482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Dependents</a:t>
                      </a:r>
                      <a:endParaRPr lang="en-US" sz="800" b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61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Spouse</a:t>
                      </a:r>
                      <a:r>
                        <a:rPr lang="zh-CN" altLang="en-US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(32yo)</a:t>
                      </a:r>
                      <a:r>
                        <a:rPr lang="zh-CN" altLang="en-US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Children</a:t>
                      </a:r>
                      <a:r>
                        <a:rPr lang="zh-CN" altLang="en-US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(5yo)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3161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Liquidity</a:t>
                      </a:r>
                      <a:r>
                        <a:rPr lang="zh-CN" altLang="en-US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619E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Hobbies</a:t>
                      </a:r>
                      <a:r>
                        <a:rPr lang="zh-CN" altLang="en-US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Lifestyle</a:t>
                      </a:r>
                      <a:r>
                        <a:rPr lang="zh-CN" altLang="en-US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Expenses</a:t>
                      </a:r>
                    </a:p>
                    <a:p>
                      <a:pPr marL="228600" indent="-22860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Children’s</a:t>
                      </a:r>
                      <a:r>
                        <a:rPr lang="zh-CN" altLang="en-US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Education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281101"/>
                  </a:ext>
                </a:extLst>
              </a:tr>
            </a:tbl>
          </a:graphicData>
        </a:graphic>
      </p:graphicFrame>
      <p:pic>
        <p:nvPicPr>
          <p:cNvPr id="1026" name="Picture 2" descr="Man - Free people icons">
            <a:extLst>
              <a:ext uri="{FF2B5EF4-FFF2-40B4-BE49-F238E27FC236}">
                <a16:creationId xmlns:a16="http://schemas.microsoft.com/office/drawing/2014/main" id="{5902AD7D-BC62-F5B6-EE3E-8103C0C77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75" y="1139758"/>
            <a:ext cx="795216" cy="79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D533259-B584-0F16-69B2-912D50139D9C}"/>
              </a:ext>
            </a:extLst>
          </p:cNvPr>
          <p:cNvSpPr txBox="1"/>
          <p:nvPr/>
        </p:nvSpPr>
        <p:spPr>
          <a:xfrm>
            <a:off x="166455" y="1895329"/>
            <a:ext cx="92285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Mr.</a:t>
            </a:r>
            <a:r>
              <a:rPr lang="zh-CN" altLang="en-US"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Scott</a:t>
            </a:r>
            <a:r>
              <a:rPr lang="zh-CN" altLang="en-US"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Seng</a:t>
            </a:r>
          </a:p>
          <a:p>
            <a:pPr algn="ctr"/>
            <a:endParaRPr lang="en-US" altLang="zh-CN" sz="3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Founder</a:t>
            </a:r>
            <a:r>
              <a:rPr lang="zh-CN" alt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zh-CN" alt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CEO</a:t>
            </a:r>
            <a:r>
              <a:rPr lang="zh-CN" alt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8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LionDash</a:t>
            </a:r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9054E7-F259-EF8C-77DB-FEF7F54C548E}"/>
              </a:ext>
            </a:extLst>
          </p:cNvPr>
          <p:cNvSpPr/>
          <p:nvPr/>
        </p:nvSpPr>
        <p:spPr>
          <a:xfrm>
            <a:off x="-1093081" y="4169838"/>
            <a:ext cx="819807" cy="325821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29A0E3-9873-5327-3669-D726D54BE305}"/>
              </a:ext>
            </a:extLst>
          </p:cNvPr>
          <p:cNvSpPr/>
          <p:nvPr/>
        </p:nvSpPr>
        <p:spPr>
          <a:xfrm>
            <a:off x="8311171" y="898756"/>
            <a:ext cx="3714374" cy="24528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Investment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Profile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90930EB-05BB-1983-BC80-89CAF6971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202050"/>
              </p:ext>
            </p:extLst>
          </p:nvPr>
        </p:nvGraphicFramePr>
        <p:xfrm>
          <a:off x="8313658" y="1164554"/>
          <a:ext cx="371188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5749">
                  <a:extLst>
                    <a:ext uri="{9D8B030D-6E8A-4147-A177-3AD203B41FA5}">
                      <a16:colId xmlns:a16="http://schemas.microsoft.com/office/drawing/2014/main" val="3870985062"/>
                    </a:ext>
                  </a:extLst>
                </a:gridCol>
                <a:gridCol w="2396138">
                  <a:extLst>
                    <a:ext uri="{9D8B030D-6E8A-4147-A177-3AD203B41FA5}">
                      <a16:colId xmlns:a16="http://schemas.microsoft.com/office/drawing/2014/main" val="67971260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Investment</a:t>
                      </a:r>
                      <a:r>
                        <a:rPr lang="zh-CN" altLang="en-US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  <a:endParaRPr lang="en-US" sz="800" b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619E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altLang="zh-CN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Higher</a:t>
                      </a:r>
                      <a:r>
                        <a:rPr lang="zh-CN" altLang="en-US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financial</a:t>
                      </a:r>
                      <a:r>
                        <a:rPr lang="zh-CN" altLang="en-US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efficiency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altLang="zh-CN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Capital</a:t>
                      </a:r>
                      <a:r>
                        <a:rPr lang="zh-CN" altLang="en-US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appreciation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Education</a:t>
                      </a:r>
                      <a:r>
                        <a:rPr lang="zh-CN" altLang="en-US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funding</a:t>
                      </a:r>
                      <a:endParaRPr lang="en-US" sz="8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28555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Investment</a:t>
                      </a:r>
                      <a:r>
                        <a:rPr lang="zh-CN" altLang="en-US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Horizon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61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Approximately</a:t>
                      </a:r>
                      <a:r>
                        <a:rPr lang="zh-CN" altLang="en-US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  <a:r>
                        <a:rPr lang="zh-CN" altLang="en-US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Years</a:t>
                      </a:r>
                      <a:r>
                        <a:rPr lang="zh-CN" altLang="en-US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**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0414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</a:t>
                      </a:r>
                      <a:r>
                        <a:rPr lang="zh-CN" altLang="en-US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61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Moderate</a:t>
                      </a:r>
                      <a:r>
                        <a:rPr lang="zh-CN" altLang="en-US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Returns</a:t>
                      </a:r>
                      <a:r>
                        <a:rPr lang="zh-CN" altLang="en-US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： </a:t>
                      </a:r>
                      <a:r>
                        <a:rPr lang="en-US" altLang="zh-CN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5-8%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0482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</a:t>
                      </a:r>
                      <a:r>
                        <a:rPr lang="zh-CN" altLang="en-US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8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  <a:endParaRPr lang="en-US" sz="800" b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619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3161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B05E5062-DED9-0CD3-7D72-48E3F80F65A9}"/>
              </a:ext>
            </a:extLst>
          </p:cNvPr>
          <p:cNvSpPr txBox="1"/>
          <p:nvPr/>
        </p:nvSpPr>
        <p:spPr>
          <a:xfrm>
            <a:off x="8311170" y="2230187"/>
            <a:ext cx="2873588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  <a:r>
              <a:rPr lang="en-US" altLang="zh-CN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Assuming</a:t>
            </a:r>
            <a:r>
              <a:rPr lang="zh-CN" altLang="en-US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retirement</a:t>
            </a:r>
            <a:r>
              <a:rPr lang="zh-CN" altLang="en-US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zh-CN" altLang="en-US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</a:t>
            </a:r>
            <a:r>
              <a:rPr lang="zh-CN" altLang="en-US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63,</a:t>
            </a:r>
            <a:r>
              <a:rPr lang="zh-CN" altLang="en-US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</a:t>
            </a:r>
            <a:r>
              <a:rPr lang="zh-CN" altLang="en-US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retirement</a:t>
            </a:r>
            <a:r>
              <a:rPr lang="zh-CN" altLang="en-US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</a:t>
            </a:r>
            <a:r>
              <a:rPr lang="zh-CN" altLang="en-US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Singapore</a:t>
            </a:r>
            <a:r>
              <a:rPr lang="zh-CN" altLang="en-US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zh-CN" altLang="en-US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zh-CN" altLang="en-US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5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BF43A3-0B53-AB69-8D35-BFE391468005}"/>
              </a:ext>
            </a:extLst>
          </p:cNvPr>
          <p:cNvSpPr/>
          <p:nvPr/>
        </p:nvSpPr>
        <p:spPr>
          <a:xfrm>
            <a:off x="3973942" y="898756"/>
            <a:ext cx="4255657" cy="245283"/>
          </a:xfrm>
          <a:prstGeom prst="rect">
            <a:avLst/>
          </a:prstGeom>
          <a:solidFill>
            <a:srgbClr val="163E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Appetite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00">
                <a:latin typeface="Arial" panose="020B0604020202020204" pitchFamily="34" charset="0"/>
                <a:cs typeface="Arial" panose="020B0604020202020204" pitchFamily="34" charset="0"/>
              </a:rPr>
              <a:t>Tolerance</a:t>
            </a:r>
            <a:r>
              <a:rPr lang="zh-CN" altLang="en-US" sz="100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EE9CDB-4987-2EDF-B0D0-0C98F9DEDFDB}"/>
              </a:ext>
            </a:extLst>
          </p:cNvPr>
          <p:cNvSpPr txBox="1"/>
          <p:nvPr/>
        </p:nvSpPr>
        <p:spPr>
          <a:xfrm>
            <a:off x="4814729" y="2399464"/>
            <a:ext cx="2873588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500" i="1">
                <a:latin typeface="Arial" panose="020B0604020202020204" pitchFamily="34" charset="0"/>
                <a:cs typeface="Arial" panose="020B0604020202020204" pitchFamily="34" charset="0"/>
              </a:rPr>
              <a:t>rated on a scale of 1 (very low risk tolerance) to 5 (very</a:t>
            </a:r>
            <a:r>
              <a:rPr lang="zh-CN" altLang="en-US" sz="5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00" i="1">
                <a:latin typeface="Arial" panose="020B0604020202020204" pitchFamily="34" charset="0"/>
                <a:cs typeface="Arial" panose="020B0604020202020204" pitchFamily="34" charset="0"/>
              </a:rPr>
              <a:t>high risk tolerance)</a:t>
            </a:r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450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B3EEE-7363-637B-2EDC-C9C0D122A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06878-AA77-F97F-F8A0-C7B0A0147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altLang="zh-CN">
                <a:latin typeface="Arial"/>
                <a:ea typeface="等线 Light"/>
                <a:cs typeface="Arial"/>
              </a:rPr>
              <a:t>Convincing clients(10%) 02</a:t>
            </a:r>
            <a:endParaRPr lang="en-US" altLang="zh-CN">
              <a:ea typeface="等线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302657-EA9A-7F74-8B1C-EAFBD3C81219}"/>
              </a:ext>
            </a:extLst>
          </p:cNvPr>
          <p:cNvSpPr/>
          <p:nvPr/>
        </p:nvSpPr>
        <p:spPr>
          <a:xfrm>
            <a:off x="267629" y="959005"/>
            <a:ext cx="4828478" cy="5508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Portfolio</a:t>
            </a:r>
            <a:r>
              <a:rPr lang="zh-CN" altLang="en-US"/>
              <a:t> </a:t>
            </a:r>
            <a:r>
              <a:rPr lang="en-US" altLang="zh-CN"/>
              <a:t>allocation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1BBE9A-E569-A5EF-27D5-B4DA2DF64058}"/>
              </a:ext>
            </a:extLst>
          </p:cNvPr>
          <p:cNvSpPr/>
          <p:nvPr/>
        </p:nvSpPr>
        <p:spPr>
          <a:xfrm>
            <a:off x="5200105" y="1004051"/>
            <a:ext cx="6887818" cy="29657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Key</a:t>
            </a:r>
            <a:r>
              <a:rPr lang="zh-CN" altLang="en-US"/>
              <a:t> </a:t>
            </a:r>
            <a:r>
              <a:rPr lang="en-US" altLang="zh-CN"/>
              <a:t>Rationale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C7B2E8-5435-99BA-D739-E221AEBD1AAF}"/>
              </a:ext>
            </a:extLst>
          </p:cNvPr>
          <p:cNvSpPr/>
          <p:nvPr/>
        </p:nvSpPr>
        <p:spPr>
          <a:xfrm>
            <a:off x="5200105" y="4066920"/>
            <a:ext cx="6887818" cy="24007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Risk</a:t>
            </a:r>
            <a:r>
              <a:rPr lang="zh-CN" altLang="en-US"/>
              <a:t> </a:t>
            </a:r>
            <a:r>
              <a:rPr lang="en-US" altLang="zh-CN"/>
              <a:t>return</a:t>
            </a:r>
            <a:r>
              <a:rPr lang="zh-CN" altLang="en-US"/>
              <a:t> </a:t>
            </a:r>
            <a:r>
              <a:rPr lang="en-US" altLang="zh-CN"/>
              <a:t>analysis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84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992C0-4137-27FF-B6CE-AF57CAB70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altLang="zh-CN">
                <a:latin typeface="Arial"/>
                <a:ea typeface="等线 Light"/>
                <a:cs typeface="Arial"/>
              </a:rPr>
              <a:t>Macroeconomic Themes</a:t>
            </a:r>
            <a:endParaRPr lang="en-US" altLang="zh-CN">
              <a:ea typeface="等线 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0BE36C-715E-45DB-290E-D6ECF0776FBB}"/>
              </a:ext>
            </a:extLst>
          </p:cNvPr>
          <p:cNvSpPr/>
          <p:nvPr/>
        </p:nvSpPr>
        <p:spPr>
          <a:xfrm>
            <a:off x="182217" y="1025913"/>
            <a:ext cx="5731461" cy="495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>
                <a:ea typeface="等线"/>
              </a:rPr>
              <a:t>Riding the Rate Cut Tailwinds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953B4A-99EE-8C34-2B10-E450E616E041}"/>
              </a:ext>
            </a:extLst>
          </p:cNvPr>
          <p:cNvSpPr/>
          <p:nvPr/>
        </p:nvSpPr>
        <p:spPr>
          <a:xfrm>
            <a:off x="182216" y="3822687"/>
            <a:ext cx="5731611" cy="5289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等线"/>
              </a:rPr>
              <a:t>Dispersion in Equity Valuations &amp; Structural Themes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67B739-D6FA-2A24-918B-A095907143B9}"/>
              </a:ext>
            </a:extLst>
          </p:cNvPr>
          <p:cNvSpPr/>
          <p:nvPr/>
        </p:nvSpPr>
        <p:spPr>
          <a:xfrm>
            <a:off x="6270704" y="1025913"/>
            <a:ext cx="5739081" cy="4916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>
                <a:ea typeface="等线"/>
              </a:rPr>
              <a:t>Continued Geopolitical &amp; Political Uncertainty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3326E4-D398-7F5D-29FC-5840C33BE9FD}"/>
              </a:ext>
            </a:extLst>
          </p:cNvPr>
          <p:cNvSpPr/>
          <p:nvPr/>
        </p:nvSpPr>
        <p:spPr>
          <a:xfrm>
            <a:off x="6270704" y="3822687"/>
            <a:ext cx="5731611" cy="5289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>
                <a:ea typeface="等线"/>
              </a:rPr>
              <a:t>Energy Transition &amp; Private Credit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B240F4-3CFF-8ADB-37AD-2A644207D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97" y="1725704"/>
            <a:ext cx="2826951" cy="126253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6D3B08-A262-9271-EA27-87C8408A28CA}"/>
              </a:ext>
            </a:extLst>
          </p:cNvPr>
          <p:cNvSpPr/>
          <p:nvPr/>
        </p:nvSpPr>
        <p:spPr>
          <a:xfrm>
            <a:off x="3058671" y="1719302"/>
            <a:ext cx="2855685" cy="12849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/>
              <a:buChar char="•"/>
            </a:pPr>
            <a:r>
              <a:rPr lang="en-US" sz="800">
                <a:solidFill>
                  <a:schemeClr val="tx1"/>
                </a:solidFill>
              </a:rPr>
              <a:t>US Federal Funds rate has declined 150 bps from its cycle peak, now around 3.75%</a:t>
            </a:r>
          </a:p>
          <a:p>
            <a:pPr marL="285750" indent="-285750">
              <a:buFont typeface="Arial"/>
              <a:buChar char="•"/>
            </a:pPr>
            <a:r>
              <a:rPr lang="en-US" sz="800">
                <a:solidFill>
                  <a:schemeClr val="tx1"/>
                </a:solidFill>
              </a:rPr>
              <a:t>Markets are pricing an additional 50-100bps of cuts in 2026 according to CME </a:t>
            </a:r>
            <a:r>
              <a:rPr lang="en-US" sz="800" err="1">
                <a:solidFill>
                  <a:schemeClr val="tx1"/>
                </a:solidFill>
              </a:rPr>
              <a:t>FedWatch</a:t>
            </a:r>
            <a:r>
              <a:rPr lang="en-US" sz="80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800">
                <a:solidFill>
                  <a:schemeClr val="tx1"/>
                </a:solidFill>
              </a:rPr>
              <a:t>Inflation in the US and Europe is trending lower but remains above 2% targets</a:t>
            </a:r>
          </a:p>
          <a:p>
            <a:pPr marL="285750" indent="-285750">
              <a:buFont typeface="Arial"/>
              <a:buChar char="•"/>
            </a:pPr>
            <a:r>
              <a:rPr lang="en-US" sz="800">
                <a:solidFill>
                  <a:schemeClr val="tx1"/>
                </a:solidFill>
              </a:rPr>
              <a:t>Soft landing scenario remains base case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1" name="Flowchart: Merge 10">
            <a:extLst>
              <a:ext uri="{FF2B5EF4-FFF2-40B4-BE49-F238E27FC236}">
                <a16:creationId xmlns:a16="http://schemas.microsoft.com/office/drawing/2014/main" id="{CFB9B7B4-BD98-9B5C-3E29-15485804EA17}"/>
              </a:ext>
            </a:extLst>
          </p:cNvPr>
          <p:cNvSpPr/>
          <p:nvPr/>
        </p:nvSpPr>
        <p:spPr>
          <a:xfrm>
            <a:off x="2689412" y="3005567"/>
            <a:ext cx="713291" cy="158076"/>
          </a:xfrm>
          <a:prstGeom prst="flowChartMerg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FE4A2F-342C-D288-681C-9287A2B8B42F}"/>
              </a:ext>
            </a:extLst>
          </p:cNvPr>
          <p:cNvSpPr/>
          <p:nvPr/>
        </p:nvSpPr>
        <p:spPr>
          <a:xfrm>
            <a:off x="179294" y="3194125"/>
            <a:ext cx="5738607" cy="44913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Supportive environment for quality income assets such as Investment Grade Bonds and diversified global equities.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671184-E10F-D0F7-099C-307E99CBEC14}"/>
              </a:ext>
            </a:extLst>
          </p:cNvPr>
          <p:cNvSpPr/>
          <p:nvPr/>
        </p:nvSpPr>
        <p:spPr>
          <a:xfrm>
            <a:off x="6099200" y="1726772"/>
            <a:ext cx="3034978" cy="425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sz="800">
                <a:solidFill>
                  <a:schemeClr val="tx1"/>
                </a:solidFill>
              </a:rPr>
              <a:t>US-China strategic competition --&gt; Technology controls, semiconductor restrictions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429D9F-C13E-9C06-F951-E15B138FF6FC}"/>
              </a:ext>
            </a:extLst>
          </p:cNvPr>
          <p:cNvSpPr/>
          <p:nvPr/>
        </p:nvSpPr>
        <p:spPr>
          <a:xfrm>
            <a:off x="6099200" y="2354301"/>
            <a:ext cx="3034978" cy="425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sz="800">
                <a:solidFill>
                  <a:schemeClr val="tx1"/>
                </a:solidFill>
              </a:rPr>
              <a:t>US-China strategic competition --&gt; Technology controls, semiconductor restrictions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0FB48E-C122-544F-B7C5-707553DD0451}"/>
              </a:ext>
            </a:extLst>
          </p:cNvPr>
          <p:cNvSpPr/>
          <p:nvPr/>
        </p:nvSpPr>
        <p:spPr>
          <a:xfrm>
            <a:off x="6099200" y="2951948"/>
            <a:ext cx="3034978" cy="425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sz="800">
                <a:solidFill>
                  <a:schemeClr val="tx1"/>
                </a:solidFill>
              </a:rPr>
              <a:t>US-China strategic competition --&gt; Technology controls, semiconductor restrictions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1E979C5-2A42-A9A7-0633-AB9F13F1B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8638" y="1841929"/>
            <a:ext cx="24384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9744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BCF42-DD6E-9BC2-6733-5F85FF80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altLang="zh-CN">
                <a:latin typeface="Arial"/>
                <a:ea typeface="等线 Light"/>
                <a:cs typeface="Arial"/>
              </a:rPr>
              <a:t>Global Economic Outlook </a:t>
            </a:r>
            <a:endParaRPr lang="en-US" altLang="zh-CN">
              <a:ea typeface="等线 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DFE7B-9B18-3BC6-6E9F-B979FB6A6212}"/>
              </a:ext>
            </a:extLst>
          </p:cNvPr>
          <p:cNvSpPr/>
          <p:nvPr/>
        </p:nvSpPr>
        <p:spPr>
          <a:xfrm>
            <a:off x="182217" y="1025913"/>
            <a:ext cx="5739081" cy="480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>
                <a:ea typeface="等线"/>
              </a:rPr>
              <a:t>Equities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E82C6F-9786-A1DD-E583-9E49124523AD}"/>
              </a:ext>
            </a:extLst>
          </p:cNvPr>
          <p:cNvSpPr/>
          <p:nvPr/>
        </p:nvSpPr>
        <p:spPr>
          <a:xfrm>
            <a:off x="6270704" y="1025913"/>
            <a:ext cx="5739081" cy="488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>
                <a:ea typeface="等线"/>
              </a:rPr>
              <a:t>Fixed Income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50DEF3-8B0A-6D51-4A03-6B884FA059C0}"/>
              </a:ext>
            </a:extLst>
          </p:cNvPr>
          <p:cNvSpPr/>
          <p:nvPr/>
        </p:nvSpPr>
        <p:spPr>
          <a:xfrm>
            <a:off x="173252" y="3428454"/>
            <a:ext cx="5739081" cy="480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>
                <a:ea typeface="等线"/>
              </a:rPr>
              <a:t>Alternative Investments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703D7D-554D-451C-299C-D1537C28A564}"/>
              </a:ext>
            </a:extLst>
          </p:cNvPr>
          <p:cNvSpPr/>
          <p:nvPr/>
        </p:nvSpPr>
        <p:spPr>
          <a:xfrm>
            <a:off x="6269252" y="3428454"/>
            <a:ext cx="5739081" cy="480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>
                <a:ea typeface="等线"/>
              </a:rPr>
              <a:t>Foreign Exchange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288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6B105-4769-39ED-B96E-F9800A6F7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341DF-B82F-7E94-473C-BA38C0F03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altLang="zh-CN">
                <a:latin typeface="Arial"/>
                <a:ea typeface="等线 Light"/>
                <a:cs typeface="Arial"/>
              </a:rPr>
              <a:t>Transition 02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43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B16A4-A74A-DC89-A7CD-F538C6F37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Portfolio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77CF93-E014-BEBF-5310-1B8F650BA457}"/>
              </a:ext>
            </a:extLst>
          </p:cNvPr>
          <p:cNvSpPr/>
          <p:nvPr/>
        </p:nvSpPr>
        <p:spPr>
          <a:xfrm>
            <a:off x="182217" y="1003610"/>
            <a:ext cx="5832008" cy="2425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Asset</a:t>
            </a:r>
            <a:r>
              <a:rPr lang="zh-CN" altLang="en-US"/>
              <a:t> </a:t>
            </a:r>
            <a:r>
              <a:rPr lang="en-US" altLang="zh-CN"/>
              <a:t>Allocation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B8AE0C-8F62-DEE8-CD57-C2D42634A5E6}"/>
              </a:ext>
            </a:extLst>
          </p:cNvPr>
          <p:cNvSpPr/>
          <p:nvPr/>
        </p:nvSpPr>
        <p:spPr>
          <a:xfrm>
            <a:off x="6177776" y="1003610"/>
            <a:ext cx="5832009" cy="2425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Risk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Return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6D8D44-B358-7BDF-1527-63EC8FD4A3F2}"/>
              </a:ext>
            </a:extLst>
          </p:cNvPr>
          <p:cNvSpPr/>
          <p:nvPr/>
        </p:nvSpPr>
        <p:spPr>
          <a:xfrm>
            <a:off x="182217" y="3627540"/>
            <a:ext cx="5832008" cy="2806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Equity</a:t>
            </a:r>
            <a:r>
              <a:rPr lang="zh-CN" altLang="en-US"/>
              <a:t> </a:t>
            </a:r>
            <a:r>
              <a:rPr lang="en-US" altLang="zh-CN"/>
              <a:t>positioning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CEDDB1-CD76-4596-6E09-6B6418E52D7F}"/>
              </a:ext>
            </a:extLst>
          </p:cNvPr>
          <p:cNvSpPr/>
          <p:nvPr/>
        </p:nvSpPr>
        <p:spPr>
          <a:xfrm>
            <a:off x="6177776" y="3627540"/>
            <a:ext cx="5832008" cy="2806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Fixed</a:t>
            </a:r>
            <a:r>
              <a:rPr lang="zh-CN" altLang="en-US"/>
              <a:t> </a:t>
            </a:r>
            <a:r>
              <a:rPr lang="en-US" altLang="zh-CN"/>
              <a:t>income</a:t>
            </a:r>
            <a:r>
              <a:rPr lang="zh-CN" altLang="en-US"/>
              <a:t> </a:t>
            </a:r>
            <a:r>
              <a:rPr lang="en-US" altLang="zh-CN"/>
              <a:t>positioning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14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36E57-855A-C2AE-76EA-E4F9AE88A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altLang="zh-CN">
                <a:latin typeface="Arial"/>
                <a:ea typeface="等线 Light"/>
                <a:cs typeface="Arial"/>
              </a:rPr>
              <a:t>SAA and TAA</a:t>
            </a:r>
            <a:r>
              <a:rPr lang="zh-CN" altLang="en-US">
                <a:latin typeface="Arial"/>
                <a:ea typeface="等线 Light"/>
                <a:cs typeface="Arial"/>
              </a:rPr>
              <a:t> </a:t>
            </a:r>
            <a:r>
              <a:rPr lang="en-US" altLang="zh-CN">
                <a:latin typeface="Arial"/>
                <a:ea typeface="等线 Light"/>
                <a:cs typeface="Arial"/>
              </a:rPr>
              <a:t>Formulation</a:t>
            </a:r>
            <a:endParaRPr lang="en-US">
              <a:latin typeface="Arial"/>
              <a:ea typeface="等线 Light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3D5561-7825-C566-9264-C355FF96EC54}"/>
              </a:ext>
            </a:extLst>
          </p:cNvPr>
          <p:cNvSpPr/>
          <p:nvPr/>
        </p:nvSpPr>
        <p:spPr>
          <a:xfrm>
            <a:off x="267629" y="959005"/>
            <a:ext cx="4828478" cy="5508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Portfolio</a:t>
            </a:r>
            <a:r>
              <a:rPr lang="zh-CN" altLang="en-US"/>
              <a:t> </a:t>
            </a:r>
            <a:r>
              <a:rPr lang="en-US" altLang="zh-CN"/>
              <a:t>allocation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68585-FF79-29A9-7517-A4279A20A56F}"/>
              </a:ext>
            </a:extLst>
          </p:cNvPr>
          <p:cNvSpPr/>
          <p:nvPr/>
        </p:nvSpPr>
        <p:spPr>
          <a:xfrm>
            <a:off x="5200105" y="1004051"/>
            <a:ext cx="6887818" cy="29657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Key</a:t>
            </a:r>
            <a:r>
              <a:rPr lang="zh-CN" altLang="en-US"/>
              <a:t> </a:t>
            </a:r>
            <a:r>
              <a:rPr lang="en-US" altLang="zh-CN"/>
              <a:t>Rationale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93B3E8-DE81-796E-6670-3C831676BAB6}"/>
              </a:ext>
            </a:extLst>
          </p:cNvPr>
          <p:cNvSpPr/>
          <p:nvPr/>
        </p:nvSpPr>
        <p:spPr>
          <a:xfrm>
            <a:off x="5200105" y="4066920"/>
            <a:ext cx="6887818" cy="24007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Risk</a:t>
            </a:r>
            <a:r>
              <a:rPr lang="zh-CN" altLang="en-US"/>
              <a:t> </a:t>
            </a:r>
            <a:r>
              <a:rPr lang="en-US" altLang="zh-CN"/>
              <a:t>return</a:t>
            </a:r>
            <a:r>
              <a:rPr lang="zh-CN" altLang="en-US"/>
              <a:t> </a:t>
            </a:r>
            <a:r>
              <a:rPr lang="en-US" altLang="zh-CN"/>
              <a:t>analysis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11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2BC63-8B8C-DB36-E651-8B8F2845E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C156C-0D0D-7F23-74A5-8CE146078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altLang="zh-CN">
                <a:latin typeface="Arial"/>
                <a:ea typeface="等线 Light"/>
                <a:cs typeface="Arial"/>
              </a:rPr>
              <a:t>Credit Solutions </a:t>
            </a:r>
            <a:r>
              <a:rPr lang="en-US" altLang="zh-CN" b="1" err="1">
                <a:latin typeface="Arial"/>
                <a:ea typeface="等线 Light"/>
                <a:cs typeface="Arial"/>
              </a:rPr>
              <a:t>yupeng</a:t>
            </a:r>
            <a:endParaRPr lang="en-US" b="1" err="1">
              <a:latin typeface="Arial"/>
              <a:ea typeface="等线 Light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2ACB5B-4185-C2A8-3A06-0E185F0D91CD}"/>
              </a:ext>
            </a:extLst>
          </p:cNvPr>
          <p:cNvSpPr/>
          <p:nvPr/>
        </p:nvSpPr>
        <p:spPr>
          <a:xfrm>
            <a:off x="267629" y="959005"/>
            <a:ext cx="4828478" cy="5508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Portfolio</a:t>
            </a:r>
            <a:r>
              <a:rPr lang="zh-CN" altLang="en-US"/>
              <a:t> </a:t>
            </a:r>
            <a:r>
              <a:rPr lang="en-US" altLang="zh-CN"/>
              <a:t>allocation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4DF251-86A3-7056-77A9-0FD49DB21415}"/>
              </a:ext>
            </a:extLst>
          </p:cNvPr>
          <p:cNvSpPr/>
          <p:nvPr/>
        </p:nvSpPr>
        <p:spPr>
          <a:xfrm>
            <a:off x="5200105" y="1004051"/>
            <a:ext cx="6887818" cy="29657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Key</a:t>
            </a:r>
            <a:r>
              <a:rPr lang="zh-CN" altLang="en-US"/>
              <a:t> </a:t>
            </a:r>
            <a:r>
              <a:rPr lang="en-US" altLang="zh-CN"/>
              <a:t>Rationale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633187-B600-F2DD-2481-92EEC0D4CD76}"/>
              </a:ext>
            </a:extLst>
          </p:cNvPr>
          <p:cNvSpPr/>
          <p:nvPr/>
        </p:nvSpPr>
        <p:spPr>
          <a:xfrm>
            <a:off x="5200105" y="4066920"/>
            <a:ext cx="6887818" cy="24007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Risk</a:t>
            </a:r>
            <a:r>
              <a:rPr lang="zh-CN" altLang="en-US"/>
              <a:t> </a:t>
            </a:r>
            <a:r>
              <a:rPr lang="en-US" altLang="zh-CN"/>
              <a:t>return</a:t>
            </a:r>
            <a:r>
              <a:rPr lang="zh-CN" altLang="en-US"/>
              <a:t> </a:t>
            </a:r>
            <a:r>
              <a:rPr lang="en-US" altLang="zh-CN"/>
              <a:t>analysis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02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34B51-5DB9-9D01-A273-C96295ED6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FE7B5-5EB0-4CC7-0E2D-C208FE2E2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altLang="zh-CN">
                <a:latin typeface="Arial"/>
                <a:ea typeface="等线 Light"/>
                <a:cs typeface="Arial"/>
              </a:rPr>
              <a:t>Risk Management </a:t>
            </a:r>
            <a:r>
              <a:rPr lang="en-US" altLang="zh-CN" b="1" err="1">
                <a:latin typeface="Arial"/>
                <a:ea typeface="等线 Light"/>
                <a:cs typeface="Arial"/>
              </a:rPr>
              <a:t>yupeng</a:t>
            </a:r>
            <a:endParaRPr lang="en-US" b="1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C71991-7F6E-DB6F-314F-219E1EDFA908}"/>
              </a:ext>
            </a:extLst>
          </p:cNvPr>
          <p:cNvSpPr/>
          <p:nvPr/>
        </p:nvSpPr>
        <p:spPr>
          <a:xfrm>
            <a:off x="267629" y="959005"/>
            <a:ext cx="4828478" cy="5508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Portfolio</a:t>
            </a:r>
            <a:r>
              <a:rPr lang="zh-CN" altLang="en-US"/>
              <a:t> </a:t>
            </a:r>
            <a:r>
              <a:rPr lang="en-US" altLang="zh-CN"/>
              <a:t>allocation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8E8BBC-DE14-C63E-A1EE-92A47EBF42E2}"/>
              </a:ext>
            </a:extLst>
          </p:cNvPr>
          <p:cNvSpPr/>
          <p:nvPr/>
        </p:nvSpPr>
        <p:spPr>
          <a:xfrm>
            <a:off x="5200105" y="1004051"/>
            <a:ext cx="6887818" cy="29657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Key</a:t>
            </a:r>
            <a:r>
              <a:rPr lang="zh-CN" altLang="en-US"/>
              <a:t> </a:t>
            </a:r>
            <a:r>
              <a:rPr lang="en-US" altLang="zh-CN"/>
              <a:t>Rationale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3507E6-35ED-7051-97EF-31E53390A67B}"/>
              </a:ext>
            </a:extLst>
          </p:cNvPr>
          <p:cNvSpPr/>
          <p:nvPr/>
        </p:nvSpPr>
        <p:spPr>
          <a:xfrm>
            <a:off x="5200105" y="4066920"/>
            <a:ext cx="6887818" cy="24007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Risk</a:t>
            </a:r>
            <a:r>
              <a:rPr lang="zh-CN" altLang="en-US"/>
              <a:t> </a:t>
            </a:r>
            <a:r>
              <a:rPr lang="en-US" altLang="zh-CN"/>
              <a:t>return</a:t>
            </a:r>
            <a:r>
              <a:rPr lang="zh-CN" altLang="en-US"/>
              <a:t> </a:t>
            </a:r>
            <a:r>
              <a:rPr lang="en-US" altLang="zh-CN"/>
              <a:t>analysis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44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BDC8C-A34E-7B39-CE84-9EF846615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8A47E-238E-700C-C25E-3BF5F366E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260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95F99-B508-EACC-0056-A1A03DBED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86BD5-2E79-0ABD-4374-9DCACA2F6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17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92EC5-E5BC-D8B9-815A-4779AA097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7263D-A939-D520-E7C9-A3A0B63D0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87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Content Page</vt:lpstr>
      <vt:lpstr>Executive Summary yupeng</vt:lpstr>
      <vt:lpstr>Client Profile(15%) 02</vt:lpstr>
      <vt:lpstr>Convincing clients(10%) 02</vt:lpstr>
      <vt:lpstr>Macroeconomic Themes</vt:lpstr>
      <vt:lpstr>Global Economic Outlook </vt:lpstr>
      <vt:lpstr>Transition 02</vt:lpstr>
      <vt:lpstr>Portfolio</vt:lpstr>
      <vt:lpstr>SAA and TAA Formulation</vt:lpstr>
      <vt:lpstr>Credit Solutions yupeng</vt:lpstr>
      <vt:lpstr>Risk Management yupeng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Tsui Siu Nga Fiona</dc:creator>
  <cp:revision>4</cp:revision>
  <dcterms:created xsi:type="dcterms:W3CDTF">2026-02-13T06:32:25Z</dcterms:created>
  <dcterms:modified xsi:type="dcterms:W3CDTF">2026-02-28T04:59:28Z</dcterms:modified>
</cp:coreProperties>
</file>